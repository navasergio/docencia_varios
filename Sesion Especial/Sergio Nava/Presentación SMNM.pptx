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83" r:id="rId1"/>
  </p:sldMasterIdLst>
  <p:notesMasterIdLst>
    <p:notesMasterId r:id="rId12"/>
  </p:notesMasterIdLst>
  <p:sldIdLst>
    <p:sldId id="257" r:id="rId2"/>
    <p:sldId id="258" r:id="rId3"/>
    <p:sldId id="260" r:id="rId4"/>
    <p:sldId id="268" r:id="rId5"/>
    <p:sldId id="267" r:id="rId6"/>
    <p:sldId id="264" r:id="rId7"/>
    <p:sldId id="265" r:id="rId8"/>
    <p:sldId id="263" r:id="rId9"/>
    <p:sldId id="266" r:id="rId10"/>
    <p:sldId id="261" r:id="rId11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Gill Sans MT" panose="020B0502020104020203" pitchFamily="34" charset="0"/>
      <p:regular r:id="rId17"/>
      <p:bold r:id="rId18"/>
      <p:italic r:id="rId19"/>
      <p:boldItalic r:id="rId20"/>
    </p:embeddedFont>
    <p:embeddedFont>
      <p:font typeface="Montserrat" panose="00000500000000000000" pitchFamily="2" charset="0"/>
      <p:regular r:id="rId21"/>
      <p:bold r:id="rId22"/>
      <p:italic r:id="rId23"/>
      <p:boldItalic r:id="rId24"/>
    </p:embeddedFont>
    <p:embeddedFont>
      <p:font typeface="Montserrat SemiBold" panose="00000700000000000000" pitchFamily="2" charset="0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9" roundtripDataSignature="AMtx7mhsYcODDan9HmJtaWqDDE5keU7a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07"/>
  </p:normalViewPr>
  <p:slideViewPr>
    <p:cSldViewPr snapToGrid="0">
      <p:cViewPr varScale="1">
        <p:scale>
          <a:sx n="72" d="100"/>
          <a:sy n="72" d="100"/>
        </p:scale>
        <p:origin x="1710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MX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0" name="Google Shape;160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MX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3" name="Google Shape;17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MX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73" name="Google Shape;17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MX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29868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73" name="Google Shape;17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MX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3682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73" name="Google Shape;17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MX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9686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73" name="Google Shape;17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MX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77293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9360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33930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42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591447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06118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1638154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321347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923138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194722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4121503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41905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cabezado de sección">
  <p:cSld name="1_Encabezado de secció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5"/>
          <p:cNvSpPr txBox="1">
            <a:spLocks noGrp="1"/>
          </p:cNvSpPr>
          <p:nvPr>
            <p:ph type="title"/>
          </p:nvPr>
        </p:nvSpPr>
        <p:spPr>
          <a:xfrm>
            <a:off x="623887" y="784707"/>
            <a:ext cx="7891463" cy="1806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BC945A"/>
              </a:buClr>
              <a:buSzPts val="3300"/>
              <a:buFont typeface="Montserrat SemiBold"/>
              <a:buNone/>
              <a:defRPr sz="3300" b="1" i="0">
                <a:solidFill>
                  <a:srgbClr val="BC945A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body" idx="1"/>
          </p:nvPr>
        </p:nvSpPr>
        <p:spPr>
          <a:xfrm>
            <a:off x="623888" y="2956561"/>
            <a:ext cx="7886700" cy="2208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 b="0" i="0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35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5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6142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8254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6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rcid.org/0000-0002-0298-3667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www.researchgate.net/profile/Sergio-Nava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www.linkedin.com/in/sergio-nava-a5a97517/" TargetMode="External"/><Relationship Id="rId5" Type="http://schemas.openxmlformats.org/officeDocument/2006/relationships/hyperlink" Target="mailto:s3rgio.nava@gmail.com" TargetMode="External"/><Relationship Id="rId4" Type="http://schemas.openxmlformats.org/officeDocument/2006/relationships/hyperlink" Target="mailto:nava@cimat.mx" TargetMode="External"/><Relationship Id="rId9" Type="http://schemas.openxmlformats.org/officeDocument/2006/relationships/hyperlink" Target="https://scholar.google.es/citations?user=Fc9sxKgAAAAJ&amp;hl=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1738" y="638110"/>
            <a:ext cx="355521" cy="484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5" name="Google Shape;165;p19"/>
          <p:cNvCxnSpPr/>
          <p:nvPr/>
        </p:nvCxnSpPr>
        <p:spPr>
          <a:xfrm>
            <a:off x="7611205" y="638110"/>
            <a:ext cx="0" cy="484113"/>
          </a:xfrm>
          <a:prstGeom prst="straightConnector1">
            <a:avLst/>
          </a:prstGeom>
          <a:noFill/>
          <a:ln w="9525" cap="flat" cmpd="sng">
            <a:solidFill>
              <a:srgbClr val="DEC9A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6" name="Google Shape;166;p19"/>
          <p:cNvSpPr txBox="1"/>
          <p:nvPr/>
        </p:nvSpPr>
        <p:spPr>
          <a:xfrm>
            <a:off x="592667" y="1302275"/>
            <a:ext cx="8239500" cy="57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rmAutofit fontScale="975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C945A"/>
              </a:buClr>
              <a:buSzPct val="102564"/>
              <a:buFont typeface="Montserrat SemiBold"/>
              <a:buNone/>
            </a:pPr>
            <a:r>
              <a:rPr lang="es-MX" sz="3300" b="1" i="0" u="none" strike="noStrike" cap="none" dirty="0">
                <a:solidFill>
                  <a:srgbClr val="BC945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Sergio M. Nava Muñoz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9"/>
          <p:cNvSpPr txBox="1"/>
          <p:nvPr/>
        </p:nvSpPr>
        <p:spPr>
          <a:xfrm>
            <a:off x="372450" y="1874901"/>
            <a:ext cx="5395533" cy="4149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325754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08107"/>
              <a:buFont typeface="Arial" panose="020B0604020202020204" pitchFamily="34" charset="0"/>
              <a:buChar char="•"/>
            </a:pPr>
            <a:r>
              <a:rPr lang="es-MX" sz="1600" b="0" i="0" u="none" strike="noStrike" cap="none" dirty="0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rPr>
              <a:t>Licenciatura de Matemáticas Aplicadas </a:t>
            </a:r>
            <a:r>
              <a:rPr lang="es-MX" sz="1600" b="0" i="0" u="none" strike="noStrike" cap="none" dirty="0">
                <a:solidFill>
                  <a:srgbClr val="833C0B"/>
                </a:solidFill>
                <a:latin typeface="Montserrat"/>
                <a:ea typeface="Montserrat"/>
                <a:cs typeface="Montserrat"/>
                <a:sym typeface="Montserrat"/>
              </a:rPr>
              <a:t>Universidad Autónoma de Tlaxcala </a:t>
            </a:r>
            <a:endParaRPr lang="es-MX" sz="1600" b="0" i="0" u="none" strike="noStrike" cap="none" dirty="0">
              <a:solidFill>
                <a:srgbClr val="88888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325754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08107"/>
              <a:buFont typeface="Arial" panose="020B0604020202020204" pitchFamily="34" charset="0"/>
              <a:buChar char="•"/>
            </a:pPr>
            <a:r>
              <a:rPr lang="es-MX" sz="1600" b="0" i="0" u="none" strike="noStrike" cap="none" dirty="0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rPr>
              <a:t>Maestría en Estadística                          </a:t>
            </a:r>
            <a:r>
              <a:rPr lang="es-MX" sz="1600" b="0" i="0" u="none" strike="noStrike" cap="none" dirty="0">
                <a:solidFill>
                  <a:srgbClr val="833C0B"/>
                </a:solidFill>
                <a:latin typeface="Montserrat"/>
                <a:ea typeface="Montserrat"/>
                <a:cs typeface="Montserrat"/>
                <a:sym typeface="Montserrat"/>
              </a:rPr>
              <a:t>Universidad de Guanajuato - CIMAT. </a:t>
            </a:r>
          </a:p>
          <a:p>
            <a:pPr marL="325754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08107"/>
              <a:buFont typeface="Arial" panose="020B0604020202020204" pitchFamily="34" charset="0"/>
              <a:buChar char="•"/>
            </a:pPr>
            <a:r>
              <a:rPr lang="es-MX" sz="1600" b="0" i="0" u="none" strike="noStrike" cap="none" dirty="0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rPr>
              <a:t>Doctorado en Ciencias en Ciencia de Datos </a:t>
            </a:r>
            <a:r>
              <a:rPr lang="es-MX" sz="1600" dirty="0">
                <a:solidFill>
                  <a:srgbClr val="833C0B"/>
                </a:solidFill>
                <a:latin typeface="Montserrat"/>
                <a:sym typeface="Montserrat"/>
              </a:rPr>
              <a:t>INFOTEC</a:t>
            </a:r>
            <a:endParaRPr sz="1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0004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08107"/>
              <a:buFont typeface="Arial"/>
              <a:buNone/>
            </a:pPr>
            <a:endParaRPr sz="1600" b="0" i="0" u="none" strike="noStrike" cap="none" dirty="0">
              <a:solidFill>
                <a:srgbClr val="88888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0004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08107"/>
              <a:buFont typeface="Arial"/>
              <a:buNone/>
            </a:pPr>
            <a:r>
              <a:rPr lang="es-MX" sz="1600" b="0" i="0" u="none" strike="noStrike" cap="none" dirty="0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rPr>
              <a:t>En </a:t>
            </a:r>
            <a:r>
              <a:rPr lang="es-MX" sz="1600" b="0" i="0" u="none" strike="noStrike" cap="none" dirty="0">
                <a:solidFill>
                  <a:srgbClr val="62721F"/>
                </a:solidFill>
                <a:latin typeface="Montserrat"/>
                <a:ea typeface="Montserrat"/>
                <a:cs typeface="Montserrat"/>
                <a:sym typeface="Montserrat"/>
              </a:rPr>
              <a:t>CIMAT</a:t>
            </a:r>
            <a:r>
              <a:rPr lang="es-MX" sz="1600" b="0" i="0" u="none" strike="noStrike" cap="none" dirty="0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rPr>
              <a:t> desde enero de 1996. Desde marzo de 1998 en la </a:t>
            </a:r>
            <a:r>
              <a:rPr lang="es-MX" sz="1600" b="0" i="0" u="none" strike="noStrike" cap="none" dirty="0">
                <a:solidFill>
                  <a:srgbClr val="833C0B"/>
                </a:solidFill>
                <a:latin typeface="Montserrat"/>
                <a:ea typeface="Montserrat"/>
                <a:cs typeface="Montserrat"/>
                <a:sym typeface="Montserrat"/>
              </a:rPr>
              <a:t>Unidad Aguascalientes. </a:t>
            </a:r>
          </a:p>
        </p:txBody>
      </p:sp>
      <p:sp>
        <p:nvSpPr>
          <p:cNvPr id="168" name="Google Shape;168;p19"/>
          <p:cNvSpPr txBox="1"/>
          <p:nvPr/>
        </p:nvSpPr>
        <p:spPr>
          <a:xfrm>
            <a:off x="95250" y="4265084"/>
            <a:ext cx="138600" cy="230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endParaRPr sz="105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9" name="Google Shape;169;p19"/>
          <p:cNvPicPr preferRelativeResize="0"/>
          <p:nvPr/>
        </p:nvPicPr>
        <p:blipFill rotWithShape="1">
          <a:blip r:embed="rId4">
            <a:alphaModFix/>
          </a:blip>
          <a:srcRect l="27587" r="27587"/>
          <a:stretch/>
        </p:blipFill>
        <p:spPr>
          <a:xfrm>
            <a:off x="5767917" y="1872119"/>
            <a:ext cx="2839201" cy="4222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1738" y="638110"/>
            <a:ext cx="355521" cy="484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8" name="Google Shape;178;p20"/>
          <p:cNvCxnSpPr/>
          <p:nvPr/>
        </p:nvCxnSpPr>
        <p:spPr>
          <a:xfrm>
            <a:off x="7611205" y="638110"/>
            <a:ext cx="0" cy="484113"/>
          </a:xfrm>
          <a:prstGeom prst="straightConnector1">
            <a:avLst/>
          </a:prstGeom>
          <a:noFill/>
          <a:ln w="9525" cap="flat" cmpd="sng">
            <a:solidFill>
              <a:srgbClr val="DEC9A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9" name="Google Shape;179;p20"/>
          <p:cNvSpPr txBox="1"/>
          <p:nvPr/>
        </p:nvSpPr>
        <p:spPr>
          <a:xfrm>
            <a:off x="495656" y="1302281"/>
            <a:ext cx="8336475" cy="57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rmAutofit fontScale="975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C945A"/>
              </a:buClr>
              <a:buSzPct val="102564"/>
              <a:buFont typeface="Montserrat SemiBold"/>
              <a:buNone/>
            </a:pPr>
            <a:r>
              <a:rPr lang="es-MX" sz="3300" b="1" i="0" u="none" strike="noStrike" cap="none">
                <a:solidFill>
                  <a:srgbClr val="BC945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Sergio M. Nava Muñoz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371061" y="1709530"/>
            <a:ext cx="8461069" cy="35576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Formación de Recursos Humanos </a:t>
            </a:r>
          </a:p>
          <a:p>
            <a:pPr marL="914400" lvl="1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Especialidad en Métodos Estadísticos</a:t>
            </a:r>
          </a:p>
          <a:p>
            <a:pPr marL="914400" lvl="1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Maestría en Modelación y Optimización de Procesos</a:t>
            </a:r>
          </a:p>
          <a:p>
            <a:pPr marL="914400" lvl="1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ES" sz="1400" dirty="0">
                <a:solidFill>
                  <a:srgbClr val="833C0B"/>
                </a:solidFill>
                <a:latin typeface="Montserrat" panose="00000500000000000000" pitchFamily="2" charset="0"/>
              </a:rPr>
              <a:t>Maestría en Ingeniería de Software</a:t>
            </a:r>
          </a:p>
          <a:p>
            <a:pPr marL="914400" lvl="1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ES" sz="1400" dirty="0">
                <a:solidFill>
                  <a:srgbClr val="833C0B"/>
                </a:solidFill>
                <a:latin typeface="Montserrat" panose="00000500000000000000" pitchFamily="2" charset="0"/>
              </a:rPr>
              <a:t>Maestría en Análisis Estadístico y Computación</a:t>
            </a:r>
          </a:p>
          <a:p>
            <a:pPr marL="914400" lvl="1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</a:rPr>
              <a:t>Maestro en Ciencias en Estadística Oficial</a:t>
            </a:r>
            <a:endParaRPr lang="es-ES" sz="1400" dirty="0">
              <a:solidFill>
                <a:srgbClr val="833C0B"/>
              </a:solidFill>
              <a:latin typeface="Montserrat" panose="00000500000000000000" pitchFamily="2" charset="0"/>
            </a:endParaRPr>
          </a:p>
          <a:p>
            <a:pPr marL="914400" lvl="1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</a:rPr>
              <a:t>Maestría en Ciencias Exactas, Sistemas y de la Información (UAA)</a:t>
            </a:r>
          </a:p>
          <a:p>
            <a:pPr marL="914400" lvl="1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</a:rPr>
              <a:t>Maestría en Ciencia de Datos e Información (INFOTEC)</a:t>
            </a:r>
            <a:endParaRPr lang="es-ES" sz="1400" dirty="0">
              <a:solidFill>
                <a:srgbClr val="833C0B"/>
              </a:solidFill>
              <a:latin typeface="Montserrat" panose="00000500000000000000" pitchFamily="2" charset="0"/>
            </a:endParaRPr>
          </a:p>
          <a:p>
            <a:pPr marL="457200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Vinculación </a:t>
            </a:r>
          </a:p>
          <a:p>
            <a:pPr marL="685800" marR="0"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</a:pPr>
            <a:r>
              <a:rPr lang="es-MX" sz="1400" dirty="0">
                <a:latin typeface="Montserrat" panose="00000500000000000000" pitchFamily="2" charset="0"/>
                <a:sym typeface="Montserrat"/>
              </a:rPr>
              <a:t>    	</a:t>
            </a: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(FIRA, CONSAR, PEMEX, SSEG, </a:t>
            </a:r>
            <a:r>
              <a:rPr lang="es-MX" sz="1400" dirty="0" err="1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Six</a:t>
            </a: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 Sigma, IMT, IMCO ,  </a:t>
            </a:r>
            <a:r>
              <a:rPr lang="es-MX" sz="1400" dirty="0" err="1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SecTurJal</a:t>
            </a: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, COMEPO)</a:t>
            </a:r>
            <a:endParaRPr sz="1400" dirty="0">
              <a:solidFill>
                <a:srgbClr val="833C0B"/>
              </a:solidFill>
              <a:latin typeface="Montserrat" panose="00000500000000000000" pitchFamily="2" charset="0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Investigación </a:t>
            </a:r>
          </a:p>
          <a:p>
            <a:pPr marL="228600">
              <a:spcBef>
                <a:spcPts val="1000"/>
              </a:spcBef>
              <a:buClr>
                <a:srgbClr val="888888"/>
              </a:buClr>
              <a:buSzPct val="129032"/>
            </a:pPr>
            <a:r>
              <a:rPr lang="es-MX" sz="1400" dirty="0">
                <a:latin typeface="Montserrat" panose="00000500000000000000" pitchFamily="2" charset="0"/>
                <a:sym typeface="Montserrat"/>
              </a:rPr>
              <a:t>               </a:t>
            </a:r>
            <a:r>
              <a:rPr lang="es-MX" sz="14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(4 JCR)</a:t>
            </a:r>
            <a:endParaRPr sz="1400" dirty="0">
              <a:solidFill>
                <a:srgbClr val="833C0B"/>
              </a:solidFill>
              <a:latin typeface="Montserrat" panose="00000500000000000000" pitchFamily="2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1738" y="638110"/>
            <a:ext cx="355521" cy="484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8" name="Google Shape;178;p20"/>
          <p:cNvCxnSpPr/>
          <p:nvPr/>
        </p:nvCxnSpPr>
        <p:spPr>
          <a:xfrm>
            <a:off x="7611205" y="638110"/>
            <a:ext cx="0" cy="484113"/>
          </a:xfrm>
          <a:prstGeom prst="straightConnector1">
            <a:avLst/>
          </a:prstGeom>
          <a:noFill/>
          <a:ln w="9525" cap="flat" cmpd="sng">
            <a:solidFill>
              <a:srgbClr val="DEC9A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9" name="Google Shape;179;p20"/>
          <p:cNvSpPr txBox="1"/>
          <p:nvPr/>
        </p:nvSpPr>
        <p:spPr>
          <a:xfrm>
            <a:off x="495656" y="1302281"/>
            <a:ext cx="8336475" cy="57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rmAutofit fontScale="975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C945A"/>
              </a:buClr>
              <a:buSzPct val="102564"/>
              <a:buFont typeface="Montserrat SemiBold"/>
              <a:buNone/>
            </a:pPr>
            <a:r>
              <a:rPr lang="es-MX" sz="3300" b="1" i="0" u="none" strike="noStrike" cap="none" dirty="0">
                <a:solidFill>
                  <a:srgbClr val="BC945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Experiencia asesorando titulación</a:t>
            </a:r>
            <a:endParaRPr lang="es-MX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550334" y="2455333"/>
            <a:ext cx="8053800" cy="29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Trayectoria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: más de 20 trabajos dirigidos/asesorados (Especialidad y Maestría) entre 2001–2023 en CIMAT y afines</a:t>
            </a:r>
          </a:p>
          <a:p>
            <a:pPr marL="457200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Niveles: 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Especialidad (aplicaciones industriales y sector público) y Maestría (proyectos con mayor profundidad metodológica). </a:t>
            </a:r>
          </a:p>
          <a:p>
            <a:pPr marL="457200" marR="0" lvl="0" indent="-228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Enfoque metodológico: 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estadística aplicada, multivariado, muestreo y diseño de experimentos, modelación y, más recientemente, ciencia de datos/ML (seguimiento ocular, clasificación/predicción).</a:t>
            </a:r>
            <a:endParaRPr dirty="0">
              <a:solidFill>
                <a:srgbClr val="888888"/>
              </a:solidFill>
              <a:latin typeface="Montserrat" panose="00000500000000000000" pitchFamily="2" charset="0"/>
              <a:sym typeface="Montserrat"/>
            </a:endParaRPr>
          </a:p>
          <a:p>
            <a:pPr marL="40004" marR="0" lvl="0" indent="0" algn="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ct val="110599"/>
              <a:buFont typeface="Arial"/>
              <a:buNone/>
            </a:pPr>
            <a:endParaRPr i="0" u="none" strike="noStrike" cap="none" dirty="0">
              <a:solidFill>
                <a:srgbClr val="000000"/>
              </a:solidFill>
              <a:latin typeface="Montserrat" panose="00000500000000000000" pitchFamily="2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42409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1738" y="638110"/>
            <a:ext cx="355521" cy="484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8" name="Google Shape;178;p20"/>
          <p:cNvCxnSpPr/>
          <p:nvPr/>
        </p:nvCxnSpPr>
        <p:spPr>
          <a:xfrm>
            <a:off x="7611205" y="638110"/>
            <a:ext cx="0" cy="484113"/>
          </a:xfrm>
          <a:prstGeom prst="straightConnector1">
            <a:avLst/>
          </a:prstGeom>
          <a:noFill/>
          <a:ln w="9525" cap="flat" cmpd="sng">
            <a:solidFill>
              <a:srgbClr val="DEC9A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9" name="Google Shape;179;p20"/>
          <p:cNvSpPr txBox="1"/>
          <p:nvPr/>
        </p:nvSpPr>
        <p:spPr>
          <a:xfrm>
            <a:off x="495656" y="1302281"/>
            <a:ext cx="8336475" cy="57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rmAutofit fontScale="975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C945A"/>
              </a:buClr>
              <a:buSzPct val="102564"/>
              <a:buFont typeface="Montserrat SemiBold"/>
              <a:buNone/>
            </a:pPr>
            <a:r>
              <a:rPr lang="es-MX" sz="3300" b="1" i="0" u="none" strike="noStrike" cap="none" dirty="0">
                <a:solidFill>
                  <a:srgbClr val="BC945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Áreas y temas representativos</a:t>
            </a:r>
            <a:endParaRPr lang="es-MX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550334" y="1874906"/>
            <a:ext cx="8053800" cy="3551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6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Industria y calidad: </a:t>
            </a:r>
            <a:r>
              <a:rPr lang="es-MX" sz="1600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muestreo de aceptación, estandarización de pruebas, metrología, eficiencia de equipos, mejora de procesos (textil/alimentos/electrónica). </a:t>
            </a:r>
            <a:endParaRPr lang="es-MX" dirty="0">
              <a:solidFill>
                <a:srgbClr val="888888"/>
              </a:solidFill>
              <a:latin typeface="Montserrat" panose="00000500000000000000" pitchFamily="2" charset="0"/>
              <a:sym typeface="Montserrat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6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Socioeconómico y regional: </a:t>
            </a:r>
            <a:r>
              <a:rPr lang="es-MX" sz="1600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regiones socioeconómicas (AGEB), migración, capital humano, evaluación de becas, auditoría pública. </a:t>
            </a:r>
          </a:p>
          <a:p>
            <a:pPr marL="457200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6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Medio ambiente y salud: </a:t>
            </a:r>
            <a:r>
              <a:rPr lang="es-MX" sz="1600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contaminación atmosférica (estudios longitudinales y de caracterización), enfermedades cardiovasculares (sala de cateterismo). </a:t>
            </a:r>
          </a:p>
          <a:p>
            <a:pPr marL="457200" marR="0" lvl="0" indent="-22860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6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Educación y TIC: </a:t>
            </a:r>
            <a:r>
              <a:rPr lang="es-MX" sz="1600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aprovechamiento escolar (bachillerato, EXANI II), disponibilidad/uso de TIC en México. </a:t>
            </a:r>
          </a:p>
          <a:p>
            <a:pPr marL="457200" indent="-228600">
              <a:spcBef>
                <a:spcPts val="1000"/>
              </a:spcBef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6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Negocios y deporte: </a:t>
            </a:r>
            <a:r>
              <a:rPr lang="es-MX" sz="1600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clasificación de </a:t>
            </a:r>
            <a:r>
              <a:rPr lang="es-MX" sz="1600" dirty="0" err="1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MiPyMEs</a:t>
            </a:r>
            <a:r>
              <a:rPr lang="es-MX" sz="1600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 del sector automotriz; análisis NFL con métodos multivariados.</a:t>
            </a: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sz="1600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Ciencia de datos / ML: </a:t>
            </a:r>
            <a:r>
              <a:rPr lang="es-MX" sz="1600" dirty="0" err="1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pupilometría</a:t>
            </a:r>
            <a:r>
              <a:rPr lang="es-MX" sz="1600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 para dificultad de memoria de trabajo (seguimiento ocular).</a:t>
            </a:r>
            <a:endParaRPr sz="1600" dirty="0">
              <a:solidFill>
                <a:srgbClr val="888888"/>
              </a:solidFill>
              <a:latin typeface="Montserrat" panose="00000500000000000000" pitchFamily="2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532581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1738" y="638110"/>
            <a:ext cx="355521" cy="484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8" name="Google Shape;178;p20"/>
          <p:cNvCxnSpPr/>
          <p:nvPr/>
        </p:nvCxnSpPr>
        <p:spPr>
          <a:xfrm>
            <a:off x="7611205" y="638110"/>
            <a:ext cx="0" cy="484113"/>
          </a:xfrm>
          <a:prstGeom prst="straightConnector1">
            <a:avLst/>
          </a:prstGeom>
          <a:noFill/>
          <a:ln w="9525" cap="flat" cmpd="sng">
            <a:solidFill>
              <a:srgbClr val="DEC9A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9" name="Google Shape;179;p20"/>
          <p:cNvSpPr txBox="1"/>
          <p:nvPr/>
        </p:nvSpPr>
        <p:spPr>
          <a:xfrm>
            <a:off x="495656" y="1302281"/>
            <a:ext cx="8336475" cy="57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rmAutofit fontScale="975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C945A"/>
              </a:buClr>
              <a:buSzPct val="102564"/>
              <a:buFont typeface="Montserrat SemiBold"/>
              <a:buNone/>
            </a:pPr>
            <a:r>
              <a:rPr lang="es-MX" sz="3300" b="1" i="0" u="none" strike="noStrike" cap="none" dirty="0">
                <a:solidFill>
                  <a:srgbClr val="BC945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Sergio M. Nava Muñoz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550334" y="2455333"/>
            <a:ext cx="8053800" cy="29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40004" marR="0" lvl="0" indent="0" algn="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10599"/>
              <a:buFont typeface="Arial"/>
              <a:buNone/>
            </a:pPr>
            <a:r>
              <a:rPr lang="es-MX" b="0" i="0" u="none" strike="noStrike" cap="none" dirty="0">
                <a:solidFill>
                  <a:srgbClr val="833C0B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Áreas de Interés</a:t>
            </a:r>
            <a:endParaRPr b="0" i="0" u="none" strike="noStrike" cap="none" dirty="0">
              <a:solidFill>
                <a:srgbClr val="833C0B"/>
              </a:solidFill>
              <a:latin typeface="Montserrat" panose="00000500000000000000" pitchFamily="2" charset="0"/>
              <a:ea typeface="Montserrat"/>
              <a:cs typeface="Montserrat"/>
              <a:sym typeface="Montserrat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Estadística Aplicada a otras disciplinas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, Muestreo, Métodos Multivariados, Estadística para la Calidad, </a:t>
            </a:r>
            <a:r>
              <a:rPr lang="es-MX" b="0" i="0" u="none" strike="noStrike" cap="none" dirty="0" err="1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Six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Sigma, 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Lean </a:t>
            </a:r>
            <a:r>
              <a:rPr lang="es-MX" dirty="0" err="1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Manufacturing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, 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Estadística Espacial, Econometría, etc. </a:t>
            </a:r>
            <a:endParaRPr b="0" i="0" u="none" strike="noStrike" cap="none" dirty="0">
              <a:solidFill>
                <a:srgbClr val="000000"/>
              </a:solidFill>
              <a:latin typeface="Montserrat" panose="00000500000000000000" pitchFamily="2" charset="0"/>
              <a:sym typeface="Arial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Ciencia de Datos, Inteligencia Artificial, Cómputo Estadístico.</a:t>
            </a: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sym typeface="Montserrat"/>
              </a:rPr>
              <a:t>DCCD: </a:t>
            </a:r>
            <a:r>
              <a:rPr lang="es-MX" dirty="0">
                <a:solidFill>
                  <a:srgbClr val="833C0B"/>
                </a:solidFill>
                <a:latin typeface="Montserrat" panose="00000500000000000000" pitchFamily="2" charset="0"/>
                <a:sym typeface="Montserrat"/>
              </a:rPr>
              <a:t>Análisis del rendimiento de los sistemas en competencias  de procesamiento del lenguaje natural</a:t>
            </a:r>
            <a:endParaRPr dirty="0">
              <a:solidFill>
                <a:srgbClr val="833C0B"/>
              </a:solidFill>
              <a:latin typeface="Montserrat" panose="00000500000000000000" pitchFamily="2" charset="0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None/>
            </a:pPr>
            <a:endParaRPr b="0" i="0" u="none" strike="noStrike" cap="none" dirty="0">
              <a:solidFill>
                <a:srgbClr val="888888"/>
              </a:solidFill>
              <a:latin typeface="Montserrat" panose="00000500000000000000" pitchFamily="2" charset="0"/>
              <a:ea typeface="Montserrat"/>
              <a:cs typeface="Montserrat"/>
              <a:sym typeface="Montserrat"/>
            </a:endParaRPr>
          </a:p>
          <a:p>
            <a:pPr marL="40004" marR="0" lvl="0" indent="0" algn="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ct val="110599"/>
              <a:buFont typeface="Arial"/>
              <a:buNone/>
            </a:pPr>
            <a:endParaRPr b="0" i="0" u="none" strike="noStrike" cap="none" dirty="0">
              <a:solidFill>
                <a:srgbClr val="000000"/>
              </a:solidFill>
              <a:latin typeface="Montserrat" panose="00000500000000000000" pitchFamily="2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907685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B5F881-B398-4C44-994A-C79F441E7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b="1" cap="none" dirty="0">
                <a:solidFill>
                  <a:srgbClr val="BC945A"/>
                </a:solidFill>
                <a:latin typeface="Montserrat SemiBold"/>
              </a:rPr>
              <a:t>¿Por qué imputar datos en imágenes?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AC11886-614B-4D13-9C97-51DA6D6B0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139" y="1853755"/>
            <a:ext cx="7460974" cy="361259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En muchas aplicaciones, las imágenes pueden presentar </a:t>
            </a:r>
            <a:r>
              <a:rPr lang="es-MX" sz="1800" dirty="0">
                <a:solidFill>
                  <a:srgbClr val="833C0B"/>
                </a:solidFill>
                <a:latin typeface="Montserrat" panose="00000500000000000000" pitchFamily="2" charset="0"/>
              </a:rPr>
              <a:t>datos faltantes</a:t>
            </a: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 o corruptos, por ejemplo:</a:t>
            </a:r>
          </a:p>
          <a:p>
            <a:pPr lvl="1">
              <a:lnSpc>
                <a:spcPct val="100000"/>
              </a:lnSpc>
            </a:pP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Sensores defectuosos en imágenes satelitales </a:t>
            </a:r>
          </a:p>
          <a:p>
            <a:pPr lvl="1">
              <a:lnSpc>
                <a:spcPct val="100000"/>
              </a:lnSpc>
            </a:pP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Pérdida de información en transmisión de datos  </a:t>
            </a:r>
          </a:p>
          <a:p>
            <a:pPr>
              <a:lnSpc>
                <a:spcPct val="100000"/>
              </a:lnSpc>
            </a:pP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La imputación de imágenes permite:</a:t>
            </a:r>
          </a:p>
          <a:p>
            <a:pPr lvl="1">
              <a:lnSpc>
                <a:spcPct val="100000"/>
              </a:lnSpc>
            </a:pP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Recuperar información útil </a:t>
            </a:r>
          </a:p>
          <a:p>
            <a:pPr lvl="1">
              <a:lnSpc>
                <a:spcPct val="100000"/>
              </a:lnSpc>
            </a:pP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Mejorar el desempeño de modelos de visión por computadora</a:t>
            </a:r>
          </a:p>
          <a:p>
            <a:pPr lvl="1">
              <a:lnSpc>
                <a:spcPct val="100000"/>
              </a:lnSpc>
            </a:pPr>
            <a:r>
              <a:rPr lang="es-MX" sz="1800" dirty="0">
                <a:solidFill>
                  <a:srgbClr val="888888"/>
                </a:solidFill>
                <a:latin typeface="Montserrat" panose="00000500000000000000" pitchFamily="2" charset="0"/>
              </a:rPr>
              <a:t>Facilitar análisis posteriores (clasificación, segmentación, etc.)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19796CF-0530-4DCE-82F9-E16A17B86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073" y="4830868"/>
            <a:ext cx="4124338" cy="202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0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BE11A0-FDCE-4450-974B-83921F274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b="1" cap="none" dirty="0">
                <a:solidFill>
                  <a:srgbClr val="BC945A"/>
                </a:solidFill>
                <a:latin typeface="Montserrat SemiBold"/>
              </a:rPr>
              <a:t>¿Qué se ha hecho y qué falta por explorar?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AB4F7E-CF1F-4EAF-A40A-577D312224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43490" y="1853755"/>
            <a:ext cx="7073785" cy="42789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Enfoques tradicionales: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Interpolación espacial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K-Nearest Neighbors (KNN)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Modelos estadísticos clásicos </a:t>
            </a:r>
          </a:p>
          <a:p>
            <a:pPr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Enfoques modernos: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Redes neuronales convolucionales (CNNs)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Autoencoders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Modelos generativos (GANs, Diffusion Models) </a:t>
            </a:r>
          </a:p>
          <a:p>
            <a:pPr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Retos actuales: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Imputación precisa en áreas extensas o altamente corruptas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Preservar características estructurales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Balance entre precisión y costo computacional</a:t>
            </a:r>
          </a:p>
        </p:txBody>
      </p:sp>
    </p:spTree>
    <p:extLst>
      <p:ext uri="{BB962C8B-B14F-4D97-AF65-F5344CB8AC3E}">
        <p14:creationId xmlns:p14="http://schemas.microsoft.com/office/powerpoint/2010/main" val="468997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98031D7C-BAA7-48CC-809E-A9C2C6A05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b="1" cap="none" dirty="0">
                <a:solidFill>
                  <a:srgbClr val="BC945A"/>
                </a:solidFill>
                <a:latin typeface="Montserrat SemiBold"/>
              </a:rPr>
              <a:t>Frey Faces (1965, 20 x </a:t>
            </a:r>
            <a:r>
              <a:rPr lang="fr-FR" b="1" cap="none">
                <a:solidFill>
                  <a:srgbClr val="BC945A"/>
                </a:solidFill>
                <a:latin typeface="Montserrat SemiBold"/>
              </a:rPr>
              <a:t>28)</a:t>
            </a:r>
            <a:endParaRPr lang="es-MX" b="1" cap="none" dirty="0">
              <a:solidFill>
                <a:srgbClr val="BC945A"/>
              </a:solidFill>
              <a:latin typeface="Montserrat SemiBold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2812CF3-8AF5-4937-84C5-8FC30DE7C3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0180" y="2076313"/>
            <a:ext cx="2732054" cy="2820822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E0618399-17DE-4397-AEAF-7394DF218F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75658" y="2076313"/>
            <a:ext cx="2732054" cy="2820822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C8C1577-A433-4258-91D7-002C2E333AE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17644" y="2076313"/>
            <a:ext cx="2732054" cy="282082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B5CFAB3-4E81-4F1F-B569-80C982AC4CB1}"/>
              </a:ext>
            </a:extLst>
          </p:cNvPr>
          <p:cNvSpPr txBox="1"/>
          <p:nvPr/>
        </p:nvSpPr>
        <p:spPr>
          <a:xfrm>
            <a:off x="186207" y="5062330"/>
            <a:ext cx="8737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chemeClr val="bg2">
                    <a:lumMod val="50000"/>
                  </a:schemeClr>
                </a:solidFill>
              </a:rPr>
              <a:t>	0 Iteraciones				100 Iteraciones			10,000 iteraciones</a:t>
            </a:r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1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FD96BD-76B6-4EE1-A52B-A7E7AB5C4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s-MX" b="1" cap="none" dirty="0">
                <a:solidFill>
                  <a:srgbClr val="BC945A"/>
                </a:solidFill>
                <a:latin typeface="Montserrat SemiBold"/>
              </a:rPr>
              <a:t>Propuesta de Tesis: Imputación de Datos Faltantes en Imágenes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5B73D21-F033-4647-9956-8A9A78350CC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2365" y="1814869"/>
            <a:ext cx="8136835" cy="385233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</a:pPr>
            <a:endParaRPr lang="es-MX" altLang="es-MX" sz="17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Objetivo general: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33C0B"/>
                </a:solidFill>
                <a:latin typeface="Montserrat" panose="00000500000000000000" pitchFamily="2" charset="0"/>
              </a:rPr>
              <a:t>Explorar, comparar y mejorar </a:t>
            </a: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métodos de imputación en imágenes con datos faltantes. </a:t>
            </a:r>
          </a:p>
          <a:p>
            <a:pPr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Posibles líneas de trabajo: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Evaluación sistemática de algoritmos (clásicos vs. modernos)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Aplicación en contextos reales (e.g., imágenes médicas, satelitales)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Desarrollo de nuevos modelos o combinaciones de técnicas </a:t>
            </a:r>
          </a:p>
          <a:p>
            <a:pPr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Herramientas sugeridas: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Python (NumPy, Scikit-learn, TensorFlow/PyTorch, OpenCV) </a:t>
            </a:r>
          </a:p>
          <a:p>
            <a:pPr lvl="1">
              <a:lnSpc>
                <a:spcPct val="100000"/>
              </a:lnSpc>
            </a:pPr>
            <a:r>
              <a:rPr lang="es-MX" altLang="es-MX" sz="1700" dirty="0">
                <a:solidFill>
                  <a:srgbClr val="888888"/>
                </a:solidFill>
                <a:latin typeface="Montserrat" panose="00000500000000000000" pitchFamily="2" charset="0"/>
              </a:rPr>
              <a:t>Bases de datos públicas con imágenes corruptas o con máscaras simuladas</a:t>
            </a:r>
          </a:p>
          <a:p>
            <a:pPr>
              <a:lnSpc>
                <a:spcPct val="100000"/>
              </a:lnSpc>
            </a:pPr>
            <a:endParaRPr lang="es-MX" altLang="es-MX" sz="17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498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1738" y="638110"/>
            <a:ext cx="355521" cy="484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8" name="Google Shape;178;p20"/>
          <p:cNvCxnSpPr/>
          <p:nvPr/>
        </p:nvCxnSpPr>
        <p:spPr>
          <a:xfrm>
            <a:off x="7611205" y="638110"/>
            <a:ext cx="0" cy="484113"/>
          </a:xfrm>
          <a:prstGeom prst="straightConnector1">
            <a:avLst/>
          </a:prstGeom>
          <a:noFill/>
          <a:ln w="9525" cap="flat" cmpd="sng">
            <a:solidFill>
              <a:srgbClr val="DEC9A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9" name="Google Shape;179;p20"/>
          <p:cNvSpPr txBox="1"/>
          <p:nvPr/>
        </p:nvSpPr>
        <p:spPr>
          <a:xfrm>
            <a:off x="495656" y="1302281"/>
            <a:ext cx="8336475" cy="57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rmAutofit fontScale="97500"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C945A"/>
              </a:buClr>
              <a:buSzPct val="102564"/>
              <a:buFont typeface="Montserrat SemiBold"/>
              <a:buNone/>
            </a:pPr>
            <a:r>
              <a:rPr lang="es-MX" sz="3300" b="1" i="0" u="none" strike="noStrike" cap="none">
                <a:solidFill>
                  <a:srgbClr val="BC945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Sergio M. Nava Muñoz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0"/>
          <p:cNvSpPr txBox="1"/>
          <p:nvPr/>
        </p:nvSpPr>
        <p:spPr>
          <a:xfrm>
            <a:off x="550333" y="2054963"/>
            <a:ext cx="8281797" cy="3371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40004" marR="0" lvl="0" indent="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10599"/>
              <a:buFont typeface="Arial"/>
              <a:buNone/>
            </a:pPr>
            <a:r>
              <a:rPr lang="es-ES" b="0" i="0" u="none" strike="noStrike" cap="none" dirty="0">
                <a:solidFill>
                  <a:srgbClr val="833C0B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Información de Contacto</a:t>
            </a:r>
            <a:endParaRPr b="0" i="0" u="none" strike="noStrike" cap="none" dirty="0">
              <a:solidFill>
                <a:srgbClr val="833C0B"/>
              </a:solidFill>
              <a:latin typeface="Montserrat" panose="00000500000000000000" pitchFamily="2" charset="0"/>
              <a:ea typeface="Montserrat"/>
              <a:cs typeface="Montserrat"/>
              <a:sym typeface="Montserrat"/>
            </a:endParaRP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Correo:  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  <a:hlinkClick r:id="rId4"/>
              </a:rPr>
              <a:t>nava@cimat.mx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	  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  <a:hlinkClick r:id="rId5"/>
              </a:rPr>
              <a:t>s3rgio.nava@gmail.com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</a:t>
            </a: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 err="1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Linkedin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: 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  <a:hlinkClick r:id="rId6"/>
              </a:rPr>
              <a:t>https://www.linkedin.com/in/sergio-nava-a5a97517/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</a:t>
            </a:r>
          </a:p>
          <a:p>
            <a:pPr marL="228600" marR="0" lvl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</a:pP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Redes Científicas:</a:t>
            </a: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 err="1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Research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Gate: 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  <a:hlinkClick r:id="rId7"/>
              </a:rPr>
              <a:t>https://www.researchgate.net/profile/Sergio-Nava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  </a:t>
            </a: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ORCID: 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  <a:hlinkClick r:id="rId8"/>
              </a:rPr>
              <a:t>https://orcid.org/0000-0002-0298-3667</a:t>
            </a:r>
            <a:r>
              <a:rPr lang="es-MX" b="0" i="0" u="none" strike="noStrike" cap="none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</a:t>
            </a:r>
          </a:p>
          <a:p>
            <a:pPr marL="4572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ct val="129032"/>
              <a:buFont typeface="Arial"/>
              <a:buChar char="•"/>
            </a:pP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Google </a:t>
            </a:r>
            <a:r>
              <a:rPr lang="es-MX" dirty="0" err="1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Scholar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: 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  <a:hlinkClick r:id="rId9"/>
              </a:rPr>
              <a:t>https://scholar.google.es/citations?user=Fc9sxKgAAAAJ&amp;hl=es</a:t>
            </a:r>
            <a:r>
              <a:rPr lang="es-MX" dirty="0">
                <a:solidFill>
                  <a:srgbClr val="888888"/>
                </a:solidFill>
                <a:latin typeface="Montserrat" panose="00000500000000000000" pitchFamily="2" charset="0"/>
                <a:ea typeface="Montserrat"/>
                <a:cs typeface="Montserrat"/>
                <a:sym typeface="Montserrat"/>
              </a:rPr>
              <a:t> </a:t>
            </a:r>
            <a:endParaRPr lang="es-MX" b="0" i="0" u="none" strike="noStrike" cap="none" dirty="0">
              <a:solidFill>
                <a:srgbClr val="888888"/>
              </a:solidFill>
              <a:latin typeface="Montserrat" panose="00000500000000000000" pitchFamily="2" charset="0"/>
              <a:ea typeface="Montserrat"/>
              <a:cs typeface="Montserrat"/>
              <a:sym typeface="Montserrat"/>
            </a:endParaRPr>
          </a:p>
          <a:p>
            <a:pPr marL="40004" marR="0" lvl="0" indent="0" algn="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ct val="110599"/>
              <a:buFont typeface="Arial"/>
              <a:buNone/>
            </a:pPr>
            <a:endParaRPr b="0" i="0" u="none" strike="noStrike" cap="none" dirty="0">
              <a:solidFill>
                <a:srgbClr val="000000"/>
              </a:solidFill>
              <a:latin typeface="Montserrat" panose="00000500000000000000" pitchFamily="2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35186827"/>
      </p:ext>
    </p:extLst>
  </p:cSld>
  <p:clrMapOvr>
    <a:masterClrMapping/>
  </p:clrMapOvr>
  <p:transition spd="slow">
    <p:randomBar dir="vert"/>
  </p:transition>
</p:sld>
</file>

<file path=ppt/theme/theme1.xml><?xml version="1.0" encoding="utf-8"?>
<a:theme xmlns:a="http://schemas.openxmlformats.org/drawingml/2006/main" name="Galería">
  <a:themeElements>
    <a:clrScheme name="Personalizado 1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3D372F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1411</TotalTime>
  <Words>729</Words>
  <Application>Microsoft Office PowerPoint</Application>
  <PresentationFormat>Presentación en pantalla (4:3)</PresentationFormat>
  <Paragraphs>83</Paragraphs>
  <Slides>10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Gill Sans MT</vt:lpstr>
      <vt:lpstr>Arial</vt:lpstr>
      <vt:lpstr>Montserrat SemiBold</vt:lpstr>
      <vt:lpstr>Calibri</vt:lpstr>
      <vt:lpstr>Montserrat</vt:lpstr>
      <vt:lpstr>Galería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¿Por qué imputar datos en imágenes?</vt:lpstr>
      <vt:lpstr>¿Qué se ha hecho y qué falta por explorar?</vt:lpstr>
      <vt:lpstr>Frey Faces (1965, 20 x 28)</vt:lpstr>
      <vt:lpstr>Propuesta de Tesis: Imputación de Datos Faltantes en Imágenes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Centro de Investigación en Matemáticas A.C. </dc:title>
  <dc:creator>Microsoft Office User</dc:creator>
  <cp:lastModifiedBy>Sergio Nava</cp:lastModifiedBy>
  <cp:revision>35</cp:revision>
  <cp:lastPrinted>2025-03-21T16:49:22Z</cp:lastPrinted>
  <dcterms:created xsi:type="dcterms:W3CDTF">2018-12-04T03:27:02Z</dcterms:created>
  <dcterms:modified xsi:type="dcterms:W3CDTF">2025-10-29T15:43:47Z</dcterms:modified>
</cp:coreProperties>
</file>